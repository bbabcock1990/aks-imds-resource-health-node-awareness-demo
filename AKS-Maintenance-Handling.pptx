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157277" cy="157277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4" name="Shape 2"/>
          <p:cNvSpPr/>
          <p:nvPr/>
        </p:nvSpPr>
        <p:spPr>
          <a:xfrm>
            <a:off x="757123" y="566928"/>
            <a:ext cx="157277" cy="157277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775411"/>
            <a:ext cx="157277" cy="157277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6" name="Shape 4"/>
          <p:cNvSpPr/>
          <p:nvPr/>
        </p:nvSpPr>
        <p:spPr>
          <a:xfrm>
            <a:off x="757123" y="775411"/>
            <a:ext cx="157277" cy="157277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51206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300" kern="0" dirty="0">
                <a:solidFill>
                  <a:srgbClr val="00A4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AZURE KUBERNETES SERVICE  ·  PLATFORM MAINTENANCE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Proactive AKS Maintenance Handling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8D6E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Detecting Azure platform maintenance and protecting workloads before impact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5623560"/>
            <a:ext cx="54864" cy="71323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55778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Brandon Babcock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EC1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AKS Subject-Matter Expert  ·  Microsoft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71055" y="55778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Reference architecture &amp; live demo</a:t>
            </a:r>
            <a:endParaRPr lang="en-US" sz="15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AEC1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working session  ·  August 5, 2026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454335" y="640080"/>
            <a:ext cx="384048" cy="384048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84687" y="640080"/>
            <a:ext cx="384048" cy="384048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454335" y="1170432"/>
            <a:ext cx="384048" cy="38404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84687" y="1170432"/>
            <a:ext cx="384048" cy="384048"/>
          </a:xfrm>
          <a:prstGeom prst="rect">
            <a:avLst/>
          </a:prstGeom>
          <a:solidFill>
            <a:srgbClr val="FFB9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 platform teams hit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68735" y="420624"/>
            <a:ext cx="117958" cy="117958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1525098" y="420624"/>
            <a:ext cx="117958" cy="117958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368735" y="576986"/>
            <a:ext cx="117958" cy="11795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1525098" y="576986"/>
            <a:ext cx="117958" cy="11795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D2D0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 ·  Azure Kubernetes Service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71055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AKS Maintenance Handling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00200"/>
            <a:ext cx="53643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600200"/>
            <a:ext cx="73152" cy="1783080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1856232"/>
            <a:ext cx="384048" cy="384048"/>
          </a:xfrm>
          <a:prstGeom prst="ellipse">
            <a:avLst/>
          </a:prstGeom>
          <a:solidFill>
            <a:srgbClr val="F25022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1819656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Hardware redeployed out from under AKS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371600" y="233172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remediates degraded hosts by redeploying the VM instance — AKS is never given a chance to gracefully move workloads first.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78728" y="1600200"/>
            <a:ext cx="53643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78728" y="1600200"/>
            <a:ext cx="73152" cy="1783080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4760" y="1856232"/>
            <a:ext cx="384048" cy="384048"/>
          </a:xfrm>
          <a:prstGeom prst="ellipse">
            <a:avLst/>
          </a:prstGeom>
          <a:solidFill>
            <a:srgbClr val="FFB900"/>
          </a:solidFill>
          <a:ln/>
        </p:spPr>
      </p:sp>
      <p:sp>
        <p:nvSpPr>
          <p:cNvPr id="20" name="Text 18"/>
          <p:cNvSpPr/>
          <p:nvPr/>
        </p:nvSpPr>
        <p:spPr>
          <a:xfrm>
            <a:off x="653476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01688" y="1819656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Residual pod networking issues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101688" y="233172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platform redeploy, pods are left with lingering network problems that require manual cleanup.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703320"/>
            <a:ext cx="53643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703320"/>
            <a:ext cx="73152" cy="1783080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" y="3959352"/>
            <a:ext cx="384048" cy="384048"/>
          </a:xfrm>
          <a:prstGeom prst="ellipse">
            <a:avLst/>
          </a:prstGeom>
          <a:solidFill>
            <a:srgbClr val="00A4EF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3922776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proactive awareness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371600" y="443484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Maintenance is discovered through ad-hoc audit runs and manual correlation — nodes stay schedulable when maintenance begins.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78728" y="3703320"/>
            <a:ext cx="536432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78728" y="3703320"/>
            <a:ext cx="73152" cy="1783080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31" name="Shape 29"/>
          <p:cNvSpPr/>
          <p:nvPr/>
        </p:nvSpPr>
        <p:spPr>
          <a:xfrm>
            <a:off x="6534760" y="3959352"/>
            <a:ext cx="384048" cy="384048"/>
          </a:xfrm>
          <a:prstGeom prst="ellipse">
            <a:avLst/>
          </a:prstGeom>
          <a:solidFill>
            <a:srgbClr val="7FBA00"/>
          </a:solidFill>
          <a:ln/>
        </p:spPr>
      </p:sp>
      <p:sp>
        <p:nvSpPr>
          <p:cNvPr id="32" name="Text 30"/>
          <p:cNvSpPr/>
          <p:nvPr/>
        </p:nvSpPr>
        <p:spPr>
          <a:xfrm>
            <a:off x="653476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01688" y="3922776"/>
            <a:ext cx="431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“Degraded” is ambiguous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7101688" y="4434840"/>
            <a:ext cx="431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Health fires “Degraded” even on a normal AKS scale-down — the documentation oversells what the signal means.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ROOT CAUSE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AKS node is a VM in a Scale 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68735" y="420624"/>
            <a:ext cx="117958" cy="117958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1525098" y="420624"/>
            <a:ext cx="117958" cy="117958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368735" y="576986"/>
            <a:ext cx="117958" cy="11795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1525098" y="576986"/>
            <a:ext cx="117958" cy="11795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D2D0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 ·  Azure Kubernetes Service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71055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AKS Maintenance Handling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5486400" cy="960120"/>
          </a:xfrm>
          <a:prstGeom prst="rect">
            <a:avLst/>
          </a:prstGeom>
          <a:solidFill>
            <a:srgbClr val="F3F2F1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645920"/>
            <a:ext cx="73152" cy="9601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17739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AKS cluster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control plane (Microsoft-operated)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05840" y="2788920"/>
            <a:ext cx="5029200" cy="960120"/>
          </a:xfrm>
          <a:prstGeom prst="rect">
            <a:avLst/>
          </a:prstGeom>
          <a:solidFill>
            <a:srgbClr val="F3F2F1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2788920"/>
            <a:ext cx="73152" cy="960120"/>
          </a:xfrm>
          <a:prstGeom prst="rect">
            <a:avLst/>
          </a:prstGeom>
          <a:solidFill>
            <a:srgbClr val="005A9E"/>
          </a:solidFill>
          <a:ln/>
        </p:spPr>
      </p:sp>
      <p:sp>
        <p:nvSpPr>
          <p:cNvPr id="17" name="Text 15"/>
          <p:cNvSpPr/>
          <p:nvPr/>
        </p:nvSpPr>
        <p:spPr>
          <a:xfrm>
            <a:off x="1261872" y="29169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Node pool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61872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Virtual Machine Scale Set (VMSS)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463040" y="3931920"/>
            <a:ext cx="4572000" cy="960120"/>
          </a:xfrm>
          <a:prstGeom prst="rect">
            <a:avLst/>
          </a:prstGeom>
          <a:solidFill>
            <a:srgbClr val="13315C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0" y="3931920"/>
            <a:ext cx="73152" cy="96012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21" name="Text 19"/>
          <p:cNvSpPr/>
          <p:nvPr/>
        </p:nvSpPr>
        <p:spPr>
          <a:xfrm>
            <a:off x="1719072" y="40599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VM instances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19072" y="4434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node = one VMSS VM on a physical host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502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Platform maintenance targets the VM, not the pod.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0" y="1691640"/>
            <a:ext cx="50593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control plane is managed. The nodes are not abstracted away.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83680" y="2514600"/>
            <a:ext cx="50593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node is a real VM subject to Azure platform maintenance: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Freeze  —  brief pause of the VM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Reboot  —  host-initiated restart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Redeploy  —  move to a healthy host (the painful one)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Terminate / Preempt  —  instance removed (Spot)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4709160"/>
            <a:ext cx="5059375" cy="1371600"/>
          </a:xfrm>
          <a:prstGeom prst="rect">
            <a:avLst/>
          </a:prstGeom>
          <a:solidFill>
            <a:srgbClr val="DEECF9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4709160"/>
            <a:ext cx="73152" cy="13716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4846320"/>
            <a:ext cx="4647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5A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 hurts:  </a:t>
            </a:r>
            <a:pPr indent="0" marL="0">
              <a:buNone/>
            </a:pP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Azure redeploys a degraded host, the VM disappears from under AKS. Kubernetes only finds out after the fact — so pods are killed ungracefully instead of being drained first.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AZURE SIGNALS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signals — know which one to automate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68735" y="420624"/>
            <a:ext cx="117958" cy="117958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1525098" y="420624"/>
            <a:ext cx="117958" cy="117958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368735" y="576986"/>
            <a:ext cx="117958" cy="11795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1525098" y="576986"/>
            <a:ext cx="117958" cy="11795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D2D0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 ·  Azure Kubernetes Service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71055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AKS Maintenance Handling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00200"/>
            <a:ext cx="531860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600200"/>
            <a:ext cx="5318608" cy="6858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600200"/>
            <a:ext cx="385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Scheduled Events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95648" y="1746504"/>
            <a:ext cx="11430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AUTOMATE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514600"/>
            <a:ext cx="46785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 via IMDS  —  169.254.169.254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Machine-readable, typed events per VM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Arrives BEFORE the action (~10–15 min)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be acknowledged to start early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448056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5A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The trigger for cordon / drain automation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24448" y="1600200"/>
            <a:ext cx="531860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24448" y="1600200"/>
            <a:ext cx="5318608" cy="685800"/>
          </a:xfrm>
          <a:prstGeom prst="rect">
            <a:avLst/>
          </a:prstGeom>
          <a:solidFill>
            <a:srgbClr val="605E5C"/>
          </a:solidFill>
          <a:ln/>
        </p:spPr>
      </p:sp>
      <p:sp>
        <p:nvSpPr>
          <p:cNvPr id="19" name="Text 17"/>
          <p:cNvSpPr/>
          <p:nvPr/>
        </p:nvSpPr>
        <p:spPr>
          <a:xfrm>
            <a:off x="6598768" y="1600200"/>
            <a:ext cx="3855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Resource Health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42855" y="1746504"/>
            <a:ext cx="137160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5E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ALERT / AUDIT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44488" y="2514600"/>
            <a:ext cx="46785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ARM availabilityStatuses API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Human-facing health narrative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Available / Degraded / Unavailable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F250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Noisy: “Degraded” also fires on scale-down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44488" y="448056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605E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Great for dashboards &amp; audit, not as an automation trigger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212080"/>
            <a:ext cx="11094415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2120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9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This is exactly the customer’s pain point: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because “Degraded” also means “scaled down,” you can’t automate off it. We automate off Scheduled Events and use Resource Health for awareness.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closed loop: detect early, drain gracefully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68735" y="420624"/>
            <a:ext cx="117958" cy="117958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1525098" y="420624"/>
            <a:ext cx="117958" cy="117958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368735" y="576986"/>
            <a:ext cx="117958" cy="11795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1525098" y="576986"/>
            <a:ext cx="117958" cy="11795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D2D0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 ·  Azure Kubernetes Service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71055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AKS Maintenance Handling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1962851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965960"/>
            <a:ext cx="1962851" cy="1097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6018" y="2377440"/>
            <a:ext cx="768096" cy="768096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4" name="Text 12"/>
          <p:cNvSpPr/>
          <p:nvPr/>
        </p:nvSpPr>
        <p:spPr>
          <a:xfrm>
            <a:off x="1146018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177997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Detect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3232" y="3721608"/>
            <a:ext cx="16336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maintenance signal for each node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52639" y="2624328"/>
            <a:ext cx="237744" cy="274320"/>
          </a:xfrm>
          <a:prstGeom prst="chevron">
            <a:avLst/>
          </a:prstGeom>
          <a:solidFill>
            <a:srgbClr val="D2D0CE"/>
          </a:solidFill>
          <a:ln/>
        </p:spPr>
      </p:sp>
      <p:sp>
        <p:nvSpPr>
          <p:cNvPr id="18" name="Shape 16"/>
          <p:cNvSpPr/>
          <p:nvPr/>
        </p:nvSpPr>
        <p:spPr>
          <a:xfrm>
            <a:off x="2831531" y="1965960"/>
            <a:ext cx="1962851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831531" y="1965960"/>
            <a:ext cx="1962851" cy="109728"/>
          </a:xfrm>
          <a:prstGeom prst="rect">
            <a:avLst/>
          </a:prstGeom>
          <a:solidFill>
            <a:srgbClr val="005A9E"/>
          </a:solidFill>
          <a:ln/>
        </p:spPr>
      </p:sp>
      <p:sp>
        <p:nvSpPr>
          <p:cNvPr id="20" name="Shape 18"/>
          <p:cNvSpPr/>
          <p:nvPr/>
        </p:nvSpPr>
        <p:spPr>
          <a:xfrm>
            <a:off x="3428909" y="2377440"/>
            <a:ext cx="768096" cy="768096"/>
          </a:xfrm>
          <a:prstGeom prst="ellipse">
            <a:avLst/>
          </a:prstGeom>
          <a:solidFill>
            <a:srgbClr val="005A9E"/>
          </a:solidFill>
          <a:ln/>
        </p:spPr>
      </p:sp>
      <p:sp>
        <p:nvSpPr>
          <p:cNvPr id="21" name="Text 19"/>
          <p:cNvSpPr/>
          <p:nvPr/>
        </p:nvSpPr>
        <p:spPr>
          <a:xfrm>
            <a:off x="3428909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922971" y="3291840"/>
            <a:ext cx="177997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Cordon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996123" y="3721608"/>
            <a:ext cx="16336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 the node unschedulable at lead time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35530" y="2624328"/>
            <a:ext cx="237744" cy="274320"/>
          </a:xfrm>
          <a:prstGeom prst="chevron">
            <a:avLst/>
          </a:prstGeom>
          <a:solidFill>
            <a:srgbClr val="D2D0CE"/>
          </a:solidFill>
          <a:ln/>
        </p:spPr>
      </p:sp>
      <p:sp>
        <p:nvSpPr>
          <p:cNvPr id="25" name="Shape 23"/>
          <p:cNvSpPr/>
          <p:nvPr/>
        </p:nvSpPr>
        <p:spPr>
          <a:xfrm>
            <a:off x="5114422" y="1965960"/>
            <a:ext cx="1962851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14422" y="1965960"/>
            <a:ext cx="1962851" cy="109728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27" name="Shape 25"/>
          <p:cNvSpPr/>
          <p:nvPr/>
        </p:nvSpPr>
        <p:spPr>
          <a:xfrm>
            <a:off x="5711800" y="2377440"/>
            <a:ext cx="768096" cy="768096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28" name="Text 26"/>
          <p:cNvSpPr/>
          <p:nvPr/>
        </p:nvSpPr>
        <p:spPr>
          <a:xfrm>
            <a:off x="5711800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205862" y="3291840"/>
            <a:ext cx="177997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Drain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79014" y="3721608"/>
            <a:ext cx="16336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Evict pods gracefully, honoring PodDisruptionBudgets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118421" y="2624328"/>
            <a:ext cx="237744" cy="274320"/>
          </a:xfrm>
          <a:prstGeom prst="chevron">
            <a:avLst/>
          </a:prstGeom>
          <a:solidFill>
            <a:srgbClr val="D2D0CE"/>
          </a:solidFill>
          <a:ln/>
        </p:spPr>
      </p:sp>
      <p:sp>
        <p:nvSpPr>
          <p:cNvPr id="32" name="Shape 30"/>
          <p:cNvSpPr/>
          <p:nvPr/>
        </p:nvSpPr>
        <p:spPr>
          <a:xfrm>
            <a:off x="7397313" y="1965960"/>
            <a:ext cx="1962851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97313" y="1965960"/>
            <a:ext cx="1962851" cy="109728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34" name="Shape 32"/>
          <p:cNvSpPr/>
          <p:nvPr/>
        </p:nvSpPr>
        <p:spPr>
          <a:xfrm>
            <a:off x="7994691" y="2377440"/>
            <a:ext cx="768096" cy="768096"/>
          </a:xfrm>
          <a:prstGeom prst="ellipse">
            <a:avLst/>
          </a:prstGeom>
          <a:solidFill>
            <a:srgbClr val="7FBA00"/>
          </a:solidFill>
          <a:ln/>
        </p:spPr>
      </p:sp>
      <p:sp>
        <p:nvSpPr>
          <p:cNvPr id="35" name="Text 33"/>
          <p:cNvSpPr/>
          <p:nvPr/>
        </p:nvSpPr>
        <p:spPr>
          <a:xfrm>
            <a:off x="7994691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488753" y="3291840"/>
            <a:ext cx="177997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Notify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561905" y="3721608"/>
            <a:ext cx="16336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an alert to Teams / ServiceNow / Google Chat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401312" y="2624328"/>
            <a:ext cx="237744" cy="274320"/>
          </a:xfrm>
          <a:prstGeom prst="chevron">
            <a:avLst/>
          </a:prstGeom>
          <a:solidFill>
            <a:srgbClr val="D2D0CE"/>
          </a:solidFill>
          <a:ln/>
        </p:spPr>
      </p:sp>
      <p:sp>
        <p:nvSpPr>
          <p:cNvPr id="39" name="Shape 37"/>
          <p:cNvSpPr/>
          <p:nvPr/>
        </p:nvSpPr>
        <p:spPr>
          <a:xfrm>
            <a:off x="9680204" y="1965960"/>
            <a:ext cx="1962851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680204" y="1965960"/>
            <a:ext cx="1962851" cy="10972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41" name="Shape 39"/>
          <p:cNvSpPr/>
          <p:nvPr/>
        </p:nvSpPr>
        <p:spPr>
          <a:xfrm>
            <a:off x="10277582" y="2377440"/>
            <a:ext cx="768096" cy="768096"/>
          </a:xfrm>
          <a:prstGeom prst="ellipse">
            <a:avLst/>
          </a:prstGeom>
          <a:solidFill>
            <a:srgbClr val="00A4EF"/>
          </a:solidFill>
          <a:ln/>
        </p:spPr>
      </p:sp>
      <p:sp>
        <p:nvSpPr>
          <p:cNvPr id="42" name="Text 40"/>
          <p:cNvSpPr/>
          <p:nvPr/>
        </p:nvSpPr>
        <p:spPr>
          <a:xfrm>
            <a:off x="10277582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9771644" y="3291840"/>
            <a:ext cx="177997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Recover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844796" y="3721608"/>
            <a:ext cx="163366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Acknowledge Azure, uncordon after the host returns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5A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node never begins platform maintenance while it is still schedulable — that is the whole point.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cooperating components on the cluster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68735" y="420624"/>
            <a:ext cx="117958" cy="117958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1525098" y="420624"/>
            <a:ext cx="117958" cy="117958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368735" y="576986"/>
            <a:ext cx="117958" cy="11795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1525098" y="576986"/>
            <a:ext cx="117958" cy="11795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D2D0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 ·  Azure Kubernetes Service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71055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AKS Maintenance Handling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605E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AZURE PLATFORM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2377440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505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Scheduled Events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EE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IMDS 169.254.169.254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EEC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Redeploy / Reboot only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77640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605E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THE CLUSTER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77640" y="1874520"/>
            <a:ext cx="4206240" cy="1051560"/>
          </a:xfrm>
          <a:prstGeom prst="rect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947672"/>
            <a:ext cx="39319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maintenance-controller  (DaemonSet)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69080" y="2400300"/>
            <a:ext cx="4023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pod per node  ·  cordon + drain  ·  lead-time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77640" y="3108960"/>
            <a:ext cx="4206240" cy="10515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3182112"/>
            <a:ext cx="393192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maintenance-operator  (Deployment + PVC)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069080" y="3634740"/>
            <a:ext cx="402336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 reports  ·  store  ·  dedup  ·  dashboard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8972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605E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ACTIONS &amp; OUTPUTS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89720" y="1874520"/>
            <a:ext cx="2468880" cy="731520"/>
          </a:xfrm>
          <a:prstGeom prst="rect">
            <a:avLst/>
          </a:prstGeom>
          <a:solidFill>
            <a:srgbClr val="F3F2F1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0" y="194767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Nodes cordoned / drained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189720" y="2743200"/>
            <a:ext cx="2468880" cy="731520"/>
          </a:xfrm>
          <a:prstGeom prst="rect">
            <a:avLst/>
          </a:prstGeom>
          <a:solidFill>
            <a:srgbClr val="DEECF9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281635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5A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Logic App → Teams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281160" y="3108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ServiceNow / Google Chat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89720" y="3611880"/>
            <a:ext cx="2468880" cy="731520"/>
          </a:xfrm>
          <a:prstGeom prst="rect">
            <a:avLst/>
          </a:prstGeom>
          <a:solidFill>
            <a:srgbClr val="F3F2F1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0" y="368503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SQLite store + Dashboard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28116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:8080  /api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926080" y="2788920"/>
            <a:ext cx="1051560" cy="-36576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080760" y="2926080"/>
            <a:ext cx="0" cy="18288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6172200" y="2907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/events (report)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183880" y="2286000"/>
            <a:ext cx="1005840" cy="-45720"/>
          </a:xfrm>
          <a:prstGeom prst="line">
            <a:avLst/>
          </a:prstGeom>
          <a:noFill/>
          <a:ln w="25400">
            <a:solidFill>
              <a:srgbClr val="13315C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183880" y="2651760"/>
            <a:ext cx="1005840" cy="45720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183880" y="3657600"/>
            <a:ext cx="1005840" cy="32004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48640" y="4892040"/>
            <a:ext cx="11094415" cy="1143000"/>
          </a:xfrm>
          <a:prstGeom prst="rect">
            <a:avLst/>
          </a:prstGeom>
          <a:solidFill>
            <a:srgbClr val="F3F2F1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4892040"/>
            <a:ext cx="73152" cy="11430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493776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5A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they cooperate:  </a:t>
            </a:r>
            <a:pPr indent="0" marL="0">
              <a:buNone/>
            </a:pP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pPr indent="0" marL="0">
              <a:buNone/>
            </a:pPr>
            <a:r>
              <a:rPr lang="en-US" sz="12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controller</a:t>
            </a:r>
            <a:pPr indent="0" marL="0">
              <a:buNone/>
            </a:pP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data plane — it runs on every node, reads IMDS Scheduled Events, performs the cordon and drain, notifies, and reports every transition to the operator. The </a:t>
            </a:r>
            <a:pPr indent="0" marL="0">
              <a:buNone/>
            </a:pPr>
            <a:r>
              <a:rPr lang="en-US" sz="12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operator</a:t>
            </a:r>
            <a:pPr indent="0" marL="0">
              <a:buNone/>
            </a:pP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control plane — it receives those reports, persists and de-duplicates them, and serves the store, API and dashboard. It polls nothing.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COMPONENT 1 · DATA PLANE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maintenance-controller (DaemonSet)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68735" y="420624"/>
            <a:ext cx="117958" cy="117958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1525098" y="420624"/>
            <a:ext cx="117958" cy="117958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368735" y="576986"/>
            <a:ext cx="117958" cy="11795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1525098" y="576986"/>
            <a:ext cx="117958" cy="11795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D2D0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 ·  Azure Kubernetes Service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71055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AKS Maintenance Handling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6916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one pod on every node</a:t>
            </a:r>
            <a:endParaRPr lang="en-US" sz="13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Watches the node’s own maintenance signal (Scheduled Events via IMDS)</a:t>
            </a:r>
            <a:endParaRPr lang="en-US" sz="13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Cordons the node (marks it unschedulable)</a:t>
            </a:r>
            <a:endParaRPr lang="en-US" sz="13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Drains via the Eviction API — honors PodDisruptionBudgets</a:t>
            </a:r>
            <a:endParaRPr lang="en-US" sz="13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Lead-time scheduling: act at notBefore − leadSeconds</a:t>
            </a:r>
            <a:endParaRPr lang="en-US" sz="1350" dirty="0"/>
          </a:p>
          <a:p>
            <a:pPr marL="228600" indent="-228600">
              <a:buSzPct val="100000"/>
              <a:buChar char="•"/>
            </a:pPr>
            <a:r>
              <a:rPr lang="en-US" sz="13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Acknowledges Azure last, so the platform starts only when we are ready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5852160" cy="960120"/>
          </a:xfrm>
          <a:prstGeom prst="rect">
            <a:avLst/>
          </a:prstGeom>
          <a:solidFill>
            <a:srgbClr val="DEECF9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120640"/>
            <a:ext cx="73152" cy="9601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166360"/>
            <a:ext cx="5440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A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Safety by default:  </a:t>
            </a:r>
            <a:pPr indent="0" marL="0">
              <a:buNone/>
            </a:pPr>
            <a:r>
              <a:rPr lang="en-US" sz="12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ships in observe-only mode, uses tightly-scoped RBAC, and only ever acts on its own node.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20840" y="1691640"/>
            <a:ext cx="4922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Per-node state machine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20840" y="2194560"/>
            <a:ext cx="492221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2368296"/>
            <a:ext cx="310896" cy="310896"/>
          </a:xfrm>
          <a:prstGeom prst="ellipse">
            <a:avLst/>
          </a:prstGeom>
          <a:solidFill>
            <a:srgbClr val="605E5C"/>
          </a:solidFill>
          <a:ln/>
        </p:spPr>
      </p:sp>
      <p:sp>
        <p:nvSpPr>
          <p:cNvPr id="18" name="Text 16"/>
          <p:cNvSpPr/>
          <p:nvPr/>
        </p:nvSpPr>
        <p:spPr>
          <a:xfrm>
            <a:off x="7360920" y="21945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Scheduled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098280" y="2194560"/>
            <a:ext cx="2407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waiting for lead 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59168" y="2852928"/>
            <a:ext cx="0" cy="146304"/>
          </a:xfrm>
          <a:prstGeom prst="line">
            <a:avLst/>
          </a:prstGeom>
          <a:noFill/>
          <a:ln w="19050">
            <a:solidFill>
              <a:srgbClr val="D2D0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2999232"/>
            <a:ext cx="492221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3172968"/>
            <a:ext cx="310896" cy="310896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3" name="Text 21"/>
          <p:cNvSpPr/>
          <p:nvPr/>
        </p:nvSpPr>
        <p:spPr>
          <a:xfrm>
            <a:off x="7360920" y="299923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Detected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098280" y="2999232"/>
            <a:ext cx="2407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 received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59168" y="3657600"/>
            <a:ext cx="0" cy="146304"/>
          </a:xfrm>
          <a:prstGeom prst="line">
            <a:avLst/>
          </a:prstGeom>
          <a:noFill/>
          <a:ln w="19050">
            <a:solidFill>
              <a:srgbClr val="D2D0C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20840" y="3803904"/>
            <a:ext cx="492221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3720" y="3977640"/>
            <a:ext cx="310896" cy="310896"/>
          </a:xfrm>
          <a:prstGeom prst="ellipse">
            <a:avLst/>
          </a:prstGeom>
          <a:solidFill>
            <a:srgbClr val="005A9E"/>
          </a:solidFill>
          <a:ln/>
        </p:spPr>
      </p:sp>
      <p:sp>
        <p:nvSpPr>
          <p:cNvPr id="28" name="Text 26"/>
          <p:cNvSpPr/>
          <p:nvPr/>
        </p:nvSpPr>
        <p:spPr>
          <a:xfrm>
            <a:off x="7360920" y="380390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Cordoned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098280" y="3803904"/>
            <a:ext cx="2407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unschedulable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59168" y="4462272"/>
            <a:ext cx="0" cy="146304"/>
          </a:xfrm>
          <a:prstGeom prst="line">
            <a:avLst/>
          </a:prstGeom>
          <a:noFill/>
          <a:ln w="19050">
            <a:solidFill>
              <a:srgbClr val="D2D0C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20840" y="4608576"/>
            <a:ext cx="492221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4782312"/>
            <a:ext cx="310896" cy="310896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3" name="Text 31"/>
          <p:cNvSpPr/>
          <p:nvPr/>
        </p:nvSpPr>
        <p:spPr>
          <a:xfrm>
            <a:off x="7360920" y="460857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Drained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098280" y="4608576"/>
            <a:ext cx="2407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pods evicted safely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059168" y="5266944"/>
            <a:ext cx="0" cy="146304"/>
          </a:xfrm>
          <a:prstGeom prst="line">
            <a:avLst/>
          </a:prstGeom>
          <a:noFill/>
          <a:ln w="19050">
            <a:solidFill>
              <a:srgbClr val="D2D0C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20840" y="5413248"/>
            <a:ext cx="492221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03720" y="5586984"/>
            <a:ext cx="310896" cy="310896"/>
          </a:xfrm>
          <a:prstGeom prst="ellipse">
            <a:avLst/>
          </a:prstGeom>
          <a:solidFill>
            <a:srgbClr val="7FBA00"/>
          </a:solidFill>
          <a:ln/>
        </p:spPr>
      </p:sp>
      <p:sp>
        <p:nvSpPr>
          <p:cNvPr id="38" name="Text 36"/>
          <p:cNvSpPr/>
          <p:nvPr/>
        </p:nvSpPr>
        <p:spPr>
          <a:xfrm>
            <a:off x="7360920" y="54132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Complete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9098280" y="5413248"/>
            <a:ext cx="2407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acknowledged → recover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COMPONENT 2 · CONTROL PLANE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maintenance-operator (Deployment + PVC)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68735" y="420624"/>
            <a:ext cx="117958" cy="117958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1525098" y="420624"/>
            <a:ext cx="117958" cy="117958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368735" y="576986"/>
            <a:ext cx="117958" cy="11795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1525098" y="576986"/>
            <a:ext cx="117958" cy="11795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D2D0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 ·  Azure Kubernetes Service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71055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AKS Maintenance Handling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345429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645920"/>
            <a:ext cx="3454298" cy="914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1920240"/>
            <a:ext cx="329184" cy="329184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4" name="Text 12"/>
          <p:cNvSpPr/>
          <p:nvPr/>
        </p:nvSpPr>
        <p:spPr>
          <a:xfrm>
            <a:off x="1261872" y="1883664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Fleet-wide report intake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2423160"/>
            <a:ext cx="29422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node’s controller POSTs each state transition to /events — one aggregation point across the whole fleet, no polling.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68698" y="1645920"/>
            <a:ext cx="345429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68698" y="1645920"/>
            <a:ext cx="3454298" cy="91440"/>
          </a:xfrm>
          <a:prstGeom prst="rect">
            <a:avLst/>
          </a:prstGeom>
          <a:solidFill>
            <a:srgbClr val="005A9E"/>
          </a:solidFill>
          <a:ln/>
        </p:spPr>
      </p:sp>
      <p:sp>
        <p:nvSpPr>
          <p:cNvPr id="18" name="Shape 16"/>
          <p:cNvSpPr/>
          <p:nvPr/>
        </p:nvSpPr>
        <p:spPr>
          <a:xfrm>
            <a:off x="4624730" y="1920240"/>
            <a:ext cx="329184" cy="329184"/>
          </a:xfrm>
          <a:prstGeom prst="ellipse">
            <a:avLst/>
          </a:prstGeom>
          <a:solidFill>
            <a:srgbClr val="005A9E"/>
          </a:solidFill>
          <a:ln/>
        </p:spPr>
      </p:sp>
      <p:sp>
        <p:nvSpPr>
          <p:cNvPr id="19" name="Text 17"/>
          <p:cNvSpPr/>
          <p:nvPr/>
        </p:nvSpPr>
        <p:spPr>
          <a:xfrm>
            <a:off x="5081930" y="1883664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Persistent store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24730" y="2423160"/>
            <a:ext cx="29422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Normalized events + full action history in SQLite on a PersistentVolume; survives pod restarts and reschedules.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88757" y="1645920"/>
            <a:ext cx="345429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88757" y="1645920"/>
            <a:ext cx="3454298" cy="91440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23" name="Shape 21"/>
          <p:cNvSpPr/>
          <p:nvPr/>
        </p:nvSpPr>
        <p:spPr>
          <a:xfrm>
            <a:off x="8444789" y="1920240"/>
            <a:ext cx="329184" cy="329184"/>
          </a:xfrm>
          <a:prstGeom prst="ellipse">
            <a:avLst/>
          </a:prstGeom>
          <a:solidFill>
            <a:srgbClr val="7FBA00"/>
          </a:solidFill>
          <a:ln/>
        </p:spPr>
      </p:sp>
      <p:sp>
        <p:nvSpPr>
          <p:cNvPr id="24" name="Text 22"/>
          <p:cNvSpPr/>
          <p:nvPr/>
        </p:nvSpPr>
        <p:spPr>
          <a:xfrm>
            <a:off x="8901989" y="1883664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Deduplication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44789" y="2423160"/>
            <a:ext cx="29422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event has a stable ID; repeat reports increment a counter instead of creating duplicate records.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840480"/>
            <a:ext cx="345429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3840480"/>
            <a:ext cx="3454298" cy="91440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28" name="Shape 26"/>
          <p:cNvSpPr/>
          <p:nvPr/>
        </p:nvSpPr>
        <p:spPr>
          <a:xfrm>
            <a:off x="804672" y="4114800"/>
            <a:ext cx="329184" cy="329184"/>
          </a:xfrm>
          <a:prstGeom prst="ellipse">
            <a:avLst/>
          </a:prstGeom>
          <a:solidFill>
            <a:srgbClr val="F25022"/>
          </a:solidFill>
          <a:ln/>
        </p:spPr>
      </p:sp>
      <p:sp>
        <p:nvSpPr>
          <p:cNvPr id="29" name="Text 27"/>
          <p:cNvSpPr/>
          <p:nvPr/>
        </p:nvSpPr>
        <p:spPr>
          <a:xfrm>
            <a:off x="1261872" y="4078224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IMDS-only — no false triggers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4672" y="4617720"/>
            <a:ext cx="29422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Tracks only Redeploy / Reboot events the controllers act on. A VMSS scale-in never produces one, so no guardrails are needed.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68698" y="3840480"/>
            <a:ext cx="345429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68698" y="3840480"/>
            <a:ext cx="3454298" cy="91440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33" name="Shape 31"/>
          <p:cNvSpPr/>
          <p:nvPr/>
        </p:nvSpPr>
        <p:spPr>
          <a:xfrm>
            <a:off x="4624730" y="4114800"/>
            <a:ext cx="329184" cy="329184"/>
          </a:xfrm>
          <a:prstGeom prst="ellipse">
            <a:avLst/>
          </a:prstGeom>
          <a:solidFill>
            <a:srgbClr val="00A4EF"/>
          </a:solidFill>
          <a:ln/>
        </p:spPr>
      </p:sp>
      <p:sp>
        <p:nvSpPr>
          <p:cNvPr id="34" name="Text 32"/>
          <p:cNvSpPr/>
          <p:nvPr/>
        </p:nvSpPr>
        <p:spPr>
          <a:xfrm>
            <a:off x="5081930" y="4078224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Operator dashboard + API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624730" y="4617720"/>
            <a:ext cx="29422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HTML dashboard and JSON API on :8080 — upcoming actions, event log, dedup counts, audit trail.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88757" y="3840480"/>
            <a:ext cx="345429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88757" y="3840480"/>
            <a:ext cx="3454298" cy="91440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38" name="Shape 36"/>
          <p:cNvSpPr/>
          <p:nvPr/>
        </p:nvSpPr>
        <p:spPr>
          <a:xfrm>
            <a:off x="8444789" y="4114800"/>
            <a:ext cx="329184" cy="329184"/>
          </a:xfrm>
          <a:prstGeom prst="ellipse">
            <a:avLst/>
          </a:prstGeom>
          <a:solidFill>
            <a:srgbClr val="FFB900"/>
          </a:solidFill>
          <a:ln/>
        </p:spPr>
      </p:sp>
      <p:sp>
        <p:nvSpPr>
          <p:cNvPr id="39" name="Text 37"/>
          <p:cNvSpPr/>
          <p:nvPr/>
        </p:nvSpPr>
        <p:spPr>
          <a:xfrm>
            <a:off x="8901989" y="4078224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Zero cluster privileges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444789" y="4617720"/>
            <a:ext cx="29422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pure aggregation hub: it polls nothing and makes no Kubernetes API calls — no RBAC beyond its own pod.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vendor-neutral notification hub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68735" y="420624"/>
            <a:ext cx="117958" cy="117958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1525098" y="420624"/>
            <a:ext cx="117958" cy="117958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368735" y="576986"/>
            <a:ext cx="117958" cy="11795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1525098" y="576986"/>
            <a:ext cx="117958" cy="11795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D2D0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 ·  Azure Kubernetes Service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71055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AKS Maintenance Handling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874520"/>
            <a:ext cx="236212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874520"/>
            <a:ext cx="2362124" cy="9144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148840"/>
            <a:ext cx="20878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Controller / Operator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" y="2788920"/>
            <a:ext cx="21426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emits a normalized event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47924" y="2514600"/>
            <a:ext cx="274320" cy="274320"/>
          </a:xfrm>
          <a:prstGeom prst="chevron">
            <a:avLst/>
          </a:prstGeom>
          <a:solidFill>
            <a:srgbClr val="0078D4"/>
          </a:solidFill>
          <a:ln/>
        </p:spPr>
      </p:sp>
      <p:sp>
        <p:nvSpPr>
          <p:cNvPr id="16" name="Shape 14"/>
          <p:cNvSpPr/>
          <p:nvPr/>
        </p:nvSpPr>
        <p:spPr>
          <a:xfrm>
            <a:off x="3459404" y="1874520"/>
            <a:ext cx="236212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59404" y="1874520"/>
            <a:ext cx="2362124" cy="914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8" name="Text 16"/>
          <p:cNvSpPr/>
          <p:nvPr/>
        </p:nvSpPr>
        <p:spPr>
          <a:xfrm>
            <a:off x="3596564" y="2148840"/>
            <a:ext cx="20878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Azure Logic App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569132" y="2788920"/>
            <a:ext cx="21426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trigger → workflow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58688" y="2514600"/>
            <a:ext cx="274320" cy="274320"/>
          </a:xfrm>
          <a:prstGeom prst="chevron">
            <a:avLst/>
          </a:prstGeom>
          <a:solidFill>
            <a:srgbClr val="0078D4"/>
          </a:solidFill>
          <a:ln/>
        </p:spPr>
      </p:sp>
      <p:sp>
        <p:nvSpPr>
          <p:cNvPr id="21" name="Shape 19"/>
          <p:cNvSpPr/>
          <p:nvPr/>
        </p:nvSpPr>
        <p:spPr>
          <a:xfrm>
            <a:off x="6370168" y="1874520"/>
            <a:ext cx="236212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70168" y="1874520"/>
            <a:ext cx="2362124" cy="91440"/>
          </a:xfrm>
          <a:prstGeom prst="rect">
            <a:avLst/>
          </a:prstGeom>
          <a:solidFill>
            <a:srgbClr val="005A9E"/>
          </a:solidFill>
          <a:ln/>
        </p:spPr>
      </p:sp>
      <p:sp>
        <p:nvSpPr>
          <p:cNvPr id="23" name="Text 21"/>
          <p:cNvSpPr/>
          <p:nvPr/>
        </p:nvSpPr>
        <p:spPr>
          <a:xfrm>
            <a:off x="6507328" y="2148840"/>
            <a:ext cx="20878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Built-in Teams connector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79896" y="2788920"/>
            <a:ext cx="21426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posts an Adaptive Card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69451" y="2514600"/>
            <a:ext cx="274320" cy="274320"/>
          </a:xfrm>
          <a:prstGeom prst="chevron">
            <a:avLst/>
          </a:prstGeom>
          <a:solidFill>
            <a:srgbClr val="0078D4"/>
          </a:solidFill>
          <a:ln/>
        </p:spPr>
      </p:sp>
      <p:sp>
        <p:nvSpPr>
          <p:cNvPr id="26" name="Shape 24"/>
          <p:cNvSpPr/>
          <p:nvPr/>
        </p:nvSpPr>
        <p:spPr>
          <a:xfrm>
            <a:off x="9280931" y="1874520"/>
            <a:ext cx="236212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80931" y="1874520"/>
            <a:ext cx="2362124" cy="91440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28" name="Text 26"/>
          <p:cNvSpPr/>
          <p:nvPr/>
        </p:nvSpPr>
        <p:spPr>
          <a:xfrm>
            <a:off x="9418091" y="2148840"/>
            <a:ext cx="20878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390659" y="2788920"/>
            <a:ext cx="21426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message in Teams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886200"/>
            <a:ext cx="5577840" cy="1965960"/>
          </a:xfrm>
          <a:prstGeom prst="rect">
            <a:avLst/>
          </a:prstGeom>
          <a:solidFill>
            <a:srgbClr val="F3F2F1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886200"/>
            <a:ext cx="73152" cy="19659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069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Swap the last hop, keep everything else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2960" y="45262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ServiceNow  —  create incident / add work note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Chat  —  post to a space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 —  Adaptive Card DM  (shown live today)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0" y="3886200"/>
            <a:ext cx="5242255" cy="1965960"/>
          </a:xfrm>
          <a:prstGeom prst="rect">
            <a:avLst/>
          </a:prstGeom>
          <a:solidFill>
            <a:srgbClr val="0B2545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3886200"/>
            <a:ext cx="73152" cy="1965960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4069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a Logic App?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675120" y="4526280"/>
            <a:ext cx="46936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DE6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cluster code stays vendor-neutral — it emits one event. Routing, formatting, retries and credentials live in the Logic App, so adding ServiceNow or Google Chat is configuration, not a code change.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REFERENCE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Azure &amp; Kubernetes concepts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68735" y="420624"/>
            <a:ext cx="117958" cy="117958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1525098" y="420624"/>
            <a:ext cx="117958" cy="117958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368735" y="576986"/>
            <a:ext cx="117958" cy="11795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1525098" y="576986"/>
            <a:ext cx="117958" cy="11795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D2D0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 ·  Azure Kubernetes Service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71055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AKS Maintenance Handling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554480"/>
            <a:ext cx="5364328" cy="804672"/>
          </a:xfrm>
          <a:prstGeom prst="rect">
            <a:avLst/>
          </a:prstGeom>
          <a:solidFill>
            <a:srgbClr val="F3F2F1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554480"/>
            <a:ext cx="73152" cy="80467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627632"/>
            <a:ext cx="499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A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1938528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Instance Metadata Service — non-routable 169.254.169.254 endpoint every VM can query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487168"/>
            <a:ext cx="53643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487168"/>
            <a:ext cx="73152" cy="80467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560320"/>
            <a:ext cx="499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A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Scheduled Events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2871216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Typed, machine-readable maintenance notices delivered before the action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419856"/>
            <a:ext cx="5364328" cy="804672"/>
          </a:xfrm>
          <a:prstGeom prst="rect">
            <a:avLst/>
          </a:prstGeom>
          <a:solidFill>
            <a:srgbClr val="F3F2F1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419856"/>
            <a:ext cx="73152" cy="80467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493008"/>
            <a:ext cx="499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A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Resource Health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3803904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ARM view of a resource’s availability — for alerting only; excluded as an automation trigger (noisy on scale-in)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352544"/>
            <a:ext cx="53643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352544"/>
            <a:ext cx="73152" cy="80467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425696"/>
            <a:ext cx="499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A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VMSS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4736592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Virtual Machine Scale Set — the compute behind an AKS node pool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285232"/>
            <a:ext cx="5364328" cy="804672"/>
          </a:xfrm>
          <a:prstGeom prst="rect">
            <a:avLst/>
          </a:prstGeom>
          <a:solidFill>
            <a:srgbClr val="F3F2F1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285232"/>
            <a:ext cx="73152" cy="80467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358384"/>
            <a:ext cx="499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A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Cordon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" y="5669280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Marks a node unschedulable; existing pods keep running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78728" y="1554480"/>
            <a:ext cx="53643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8728" y="1554480"/>
            <a:ext cx="73152" cy="80467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3" name="Text 31"/>
          <p:cNvSpPr/>
          <p:nvPr/>
        </p:nvSpPr>
        <p:spPr>
          <a:xfrm>
            <a:off x="6507328" y="1627632"/>
            <a:ext cx="499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A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Drain / Eviction API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07328" y="1938528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Gracefully evicts pods while respecting disruption limits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78728" y="2487168"/>
            <a:ext cx="5364328" cy="804672"/>
          </a:xfrm>
          <a:prstGeom prst="rect">
            <a:avLst/>
          </a:prstGeom>
          <a:solidFill>
            <a:srgbClr val="F3F2F1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78728" y="2487168"/>
            <a:ext cx="73152" cy="80467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7" name="Text 35"/>
          <p:cNvSpPr/>
          <p:nvPr/>
        </p:nvSpPr>
        <p:spPr>
          <a:xfrm>
            <a:off x="6507328" y="2560320"/>
            <a:ext cx="499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A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PodDisruptionBudget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07328" y="2871216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Caps how many replicas can be down at once during a drain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78728" y="3419856"/>
            <a:ext cx="53643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78728" y="3419856"/>
            <a:ext cx="73152" cy="80467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1" name="Text 39"/>
          <p:cNvSpPr/>
          <p:nvPr/>
        </p:nvSpPr>
        <p:spPr>
          <a:xfrm>
            <a:off x="6507328" y="3493008"/>
            <a:ext cx="499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A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Workload Identity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507328" y="3803904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Federated Entra identity for pods — no secrets to poll Azure APIs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78728" y="4352544"/>
            <a:ext cx="5364328" cy="804672"/>
          </a:xfrm>
          <a:prstGeom prst="rect">
            <a:avLst/>
          </a:prstGeom>
          <a:solidFill>
            <a:srgbClr val="F3F2F1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78728" y="4352544"/>
            <a:ext cx="73152" cy="80467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5" name="Text 43"/>
          <p:cNvSpPr/>
          <p:nvPr/>
        </p:nvSpPr>
        <p:spPr>
          <a:xfrm>
            <a:off x="6507328" y="4425696"/>
            <a:ext cx="499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A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Logic App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507328" y="4736592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Serverless workflow that turns an event into a notification action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78728" y="5285232"/>
            <a:ext cx="53643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78728" y="5285232"/>
            <a:ext cx="73152" cy="80467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49" name="Text 47"/>
          <p:cNvSpPr/>
          <p:nvPr/>
        </p:nvSpPr>
        <p:spPr>
          <a:xfrm>
            <a:off x="6507328" y="5358384"/>
            <a:ext cx="4998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A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Adaptive Card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507328" y="5669280"/>
            <a:ext cx="495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Rich, actionable message format rendered natively in Teams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COVERAGE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in-scope requirement — addressed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68735" y="420624"/>
            <a:ext cx="117958" cy="117958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1525098" y="420624"/>
            <a:ext cx="117958" cy="117958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368735" y="576986"/>
            <a:ext cx="117958" cy="11795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1525098" y="576986"/>
            <a:ext cx="117958" cy="11795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D2D0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 ·  Azure Kubernetes Service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71055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AKS Maintenance Handling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572768"/>
            <a:ext cx="11094415" cy="4572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5727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In-scope requirement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5727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Status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60920" y="1572768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it lives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057400"/>
            <a:ext cx="11094415" cy="457200"/>
          </a:xfrm>
          <a:prstGeom prst="rect">
            <a:avLst/>
          </a:prstGeom>
          <a:solidFill>
            <a:srgbClr val="F3F2F1"/>
          </a:solidFill>
          <a:ln w="6350">
            <a:solidFill>
              <a:srgbClr val="D2D0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057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Poll maintenance signals (IMDS Scheduled Events)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11696" y="2139696"/>
            <a:ext cx="292608" cy="292608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18" name="Text 16"/>
          <p:cNvSpPr/>
          <p:nvPr/>
        </p:nvSpPr>
        <p:spPr>
          <a:xfrm>
            <a:off x="6711696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60920" y="2057400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 · per-node IMDS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2542032"/>
            <a:ext cx="1109441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0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25420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VMSS instances → AKS clusters → node names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11696" y="2624328"/>
            <a:ext cx="292608" cy="292608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23" name="Text 21"/>
          <p:cNvSpPr/>
          <p:nvPr/>
        </p:nvSpPr>
        <p:spPr>
          <a:xfrm>
            <a:off x="6711696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60920" y="2542032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 + operator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026664"/>
            <a:ext cx="11094415" cy="457200"/>
          </a:xfrm>
          <a:prstGeom prst="rect">
            <a:avLst/>
          </a:prstGeom>
          <a:solidFill>
            <a:srgbClr val="F3F2F1"/>
          </a:solidFill>
          <a:ln w="6350">
            <a:solidFill>
              <a:srgbClr val="D2D0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02666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Persistent, normalized event store + audit history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11696" y="3108960"/>
            <a:ext cx="292608" cy="292608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28" name="Text 26"/>
          <p:cNvSpPr/>
          <p:nvPr/>
        </p:nvSpPr>
        <p:spPr>
          <a:xfrm>
            <a:off x="6711696" y="3108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60920" y="3026664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 · SQLite on PVC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3511296"/>
            <a:ext cx="1109441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0C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5112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Deduplicate incoming events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11696" y="3593592"/>
            <a:ext cx="292608" cy="292608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33" name="Text 31"/>
          <p:cNvSpPr/>
          <p:nvPr/>
        </p:nvSpPr>
        <p:spPr>
          <a:xfrm>
            <a:off x="6711696" y="3593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60920" y="3511296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 · stable event IDs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3995928"/>
            <a:ext cx="11094415" cy="457200"/>
          </a:xfrm>
          <a:prstGeom prst="rect">
            <a:avLst/>
          </a:prstGeom>
          <a:solidFill>
            <a:srgbClr val="F3F2F1"/>
          </a:solidFill>
          <a:ln w="6350">
            <a:solidFill>
              <a:srgbClr val="D2D0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39959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cordon at a configurable lead time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711696" y="4078224"/>
            <a:ext cx="292608" cy="292608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38" name="Text 36"/>
          <p:cNvSpPr/>
          <p:nvPr/>
        </p:nvSpPr>
        <p:spPr>
          <a:xfrm>
            <a:off x="6711696" y="4078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360920" y="3995928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 · leadSeconds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4480560"/>
            <a:ext cx="1109441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0C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Notify on maintenance actions (Reboot / Redeploy)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711696" y="4562856"/>
            <a:ext cx="292608" cy="292608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43" name="Text 41"/>
          <p:cNvSpPr/>
          <p:nvPr/>
        </p:nvSpPr>
        <p:spPr>
          <a:xfrm>
            <a:off x="6711696" y="4562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360920" y="4480560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 → Logic App → Teams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48640" y="4965192"/>
            <a:ext cx="11094415" cy="457200"/>
          </a:xfrm>
          <a:prstGeom prst="rect">
            <a:avLst/>
          </a:prstGeom>
          <a:solidFill>
            <a:srgbClr val="F3F2F1"/>
          </a:solidFill>
          <a:ln w="6350">
            <a:solidFill>
              <a:srgbClr val="D2D0C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49651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Outbound notifications (ServiceNow / Google Chat)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711696" y="5047488"/>
            <a:ext cx="292608" cy="292608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48" name="Text 46"/>
          <p:cNvSpPr/>
          <p:nvPr/>
        </p:nvSpPr>
        <p:spPr>
          <a:xfrm>
            <a:off x="6711696" y="5047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360920" y="4965192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Logic App · swap last hop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48640" y="5449824"/>
            <a:ext cx="11094415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D0C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" y="544982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 visibility — dashboard / API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711696" y="5532120"/>
            <a:ext cx="292608" cy="292608"/>
          </a:xfrm>
          <a:prstGeom prst="ellipse">
            <a:avLst/>
          </a:prstGeom>
          <a:solidFill>
            <a:srgbClr val="107C10"/>
          </a:solidFill>
          <a:ln/>
        </p:spPr>
      </p:sp>
      <p:sp>
        <p:nvSpPr>
          <p:cNvPr id="53" name="Text 51"/>
          <p:cNvSpPr/>
          <p:nvPr/>
        </p:nvSpPr>
        <p:spPr>
          <a:xfrm>
            <a:off x="6711696" y="5532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360920" y="5449824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 · :8080 + /api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548640" y="600760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07C1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 of 8 in-scope requirements demonstrated live — nothing left as “future work” for the walkthrough.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DEMO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you’ll see — run of show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68735" y="420624"/>
            <a:ext cx="117958" cy="117958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1525098" y="420624"/>
            <a:ext cx="117958" cy="117958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368735" y="576986"/>
            <a:ext cx="117958" cy="11795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1525098" y="576986"/>
            <a:ext cx="117958" cy="11795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D2D0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 ·  Azure Kubernetes Service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71055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AKS Maintenance Handling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345429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645920"/>
            <a:ext cx="1051560" cy="4572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6459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37360" y="1664208"/>
            <a:ext cx="2128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Azure reality check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2267712"/>
            <a:ext cx="29970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the cluster, node pool = VMSS, and the live Scheduled Events endpoint on a node.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68698" y="1645920"/>
            <a:ext cx="345429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68698" y="1645920"/>
            <a:ext cx="1051560" cy="457200"/>
          </a:xfrm>
          <a:prstGeom prst="rect">
            <a:avLst/>
          </a:prstGeom>
          <a:solidFill>
            <a:srgbClr val="005A9E"/>
          </a:solidFill>
          <a:ln/>
        </p:spPr>
      </p:sp>
      <p:sp>
        <p:nvSpPr>
          <p:cNvPr id="18" name="Text 16"/>
          <p:cNvSpPr/>
          <p:nvPr/>
        </p:nvSpPr>
        <p:spPr>
          <a:xfrm>
            <a:off x="4368698" y="16459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57418" y="1664208"/>
            <a:ext cx="2128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Safe, graceful drain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97298" y="2267712"/>
            <a:ext cx="29970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Inject a maintenance event; watch cordon → drain honoring PDBs. demo.ps1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88757" y="1645920"/>
            <a:ext cx="345429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88757" y="1645920"/>
            <a:ext cx="1051560" cy="45720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23" name="Text 21"/>
          <p:cNvSpPr/>
          <p:nvPr/>
        </p:nvSpPr>
        <p:spPr>
          <a:xfrm>
            <a:off x="8188757" y="16459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 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77477" y="1664208"/>
            <a:ext cx="2128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real platform signal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417357" y="2267712"/>
            <a:ext cx="29970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Scheduled Events straight from IMDS on a node.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794760"/>
            <a:ext cx="345429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3794760"/>
            <a:ext cx="1051560" cy="457200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7947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 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737360" y="3813048"/>
            <a:ext cx="2128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IMDS Reboot / Redeploy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77240" y="4416552"/>
            <a:ext cx="29970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Reboot → cordon + drain + operator store + dedup. demo-reboot.ps1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368698" y="3794760"/>
            <a:ext cx="345429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68698" y="3794760"/>
            <a:ext cx="1051560" cy="457200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33" name="Text 31"/>
          <p:cNvSpPr/>
          <p:nvPr/>
        </p:nvSpPr>
        <p:spPr>
          <a:xfrm>
            <a:off x="4368698" y="37947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 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57418" y="3813048"/>
            <a:ext cx="2128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Lead-time scheduling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97298" y="4416552"/>
            <a:ext cx="29970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held in Scheduled state, then acts at window − lead. demo-leadtime.ps1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88757" y="3794760"/>
            <a:ext cx="345429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88757" y="3794760"/>
            <a:ext cx="1051560" cy="457200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38" name="Text 36"/>
          <p:cNvSpPr/>
          <p:nvPr/>
        </p:nvSpPr>
        <p:spPr>
          <a:xfrm>
            <a:off x="8188757" y="37947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 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377477" y="3813048"/>
            <a:ext cx="2128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Operator dashboard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417357" y="4416552"/>
            <a:ext cx="299709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Persisted events, dedup counters, upcoming actions at :8080.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TRANSPARENCY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 vs. simulated — no hand-waving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68735" y="420624"/>
            <a:ext cx="117958" cy="117958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1525098" y="420624"/>
            <a:ext cx="117958" cy="117958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368735" y="576986"/>
            <a:ext cx="117958" cy="11795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1525098" y="576986"/>
            <a:ext cx="117958" cy="11795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D2D0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 ·  Azure Kubernetes Service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71055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AKS Maintenance Handling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5318608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645920"/>
            <a:ext cx="5318608" cy="640080"/>
          </a:xfrm>
          <a:prstGeom prst="rect">
            <a:avLst/>
          </a:prstGeom>
          <a:solidFill>
            <a:srgbClr val="107C1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64592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Production-identical (real)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514600"/>
            <a:ext cx="46785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Events API calls (IMDS)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Cordon via the Kubernetes API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Drain via the Eviction API (honors PDBs)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Logic App → Teams Adaptive Card delivery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Persistent store, dedup, action history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 dashboard &amp; JSON API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24448" y="1645920"/>
            <a:ext cx="5318608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24448" y="1645920"/>
            <a:ext cx="5318608" cy="640080"/>
          </a:xfrm>
          <a:prstGeom prst="rect">
            <a:avLst/>
          </a:prstGeom>
          <a:solidFill>
            <a:srgbClr val="605E5C"/>
          </a:solidFill>
          <a:ln/>
        </p:spPr>
      </p:sp>
      <p:sp>
        <p:nvSpPr>
          <p:cNvPr id="17" name="Text 15"/>
          <p:cNvSpPr/>
          <p:nvPr/>
        </p:nvSpPr>
        <p:spPr>
          <a:xfrm>
            <a:off x="6598768" y="1645920"/>
            <a:ext cx="476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Injected for the demo (simulated)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44488" y="2514600"/>
            <a:ext cx="46785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event content (we inject it via a ConfigMap instead of waiting hours for Azure to schedule real maintenance)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201F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target node selection, so the demo is repeatable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44488" y="4389120"/>
            <a:ext cx="4678528" cy="822960"/>
          </a:xfrm>
          <a:prstGeom prst="rect">
            <a:avLst/>
          </a:prstGeom>
          <a:solidFill>
            <a:srgbClr val="DEECF9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44488" y="4389120"/>
            <a:ext cx="73152" cy="8229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1" name="Text 19"/>
          <p:cNvSpPr/>
          <p:nvPr/>
        </p:nvSpPr>
        <p:spPr>
          <a:xfrm>
            <a:off x="6827368" y="4434840"/>
            <a:ext cx="431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5A9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Everything downstream of the event — the detection, cordon, drain, notify and store — is exactly what runs in production.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PATH TO PRODUCTION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From demo to a supported 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68735" y="420624"/>
            <a:ext cx="117958" cy="117958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1525098" y="420624"/>
            <a:ext cx="117958" cy="117958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368735" y="576986"/>
            <a:ext cx="117958" cy="11795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1525098" y="576986"/>
            <a:ext cx="117958" cy="11795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D2D0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 ·  Azure Kubernetes Service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71055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AKS Maintenance Handling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345429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645920"/>
            <a:ext cx="3454298" cy="914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1901952"/>
            <a:ext cx="2942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Immutable images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04672" y="2423160"/>
            <a:ext cx="29422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 the controller and operator as scanned container images in ACR — no pip-at-startup.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68698" y="1645920"/>
            <a:ext cx="345429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68698" y="1645920"/>
            <a:ext cx="3454298" cy="91440"/>
          </a:xfrm>
          <a:prstGeom prst="rect">
            <a:avLst/>
          </a:prstGeom>
          <a:solidFill>
            <a:srgbClr val="005A9E"/>
          </a:solidFill>
          <a:ln/>
        </p:spPr>
      </p:sp>
      <p:sp>
        <p:nvSpPr>
          <p:cNvPr id="17" name="Text 15"/>
          <p:cNvSpPr/>
          <p:nvPr/>
        </p:nvSpPr>
        <p:spPr>
          <a:xfrm>
            <a:off x="4624730" y="1901952"/>
            <a:ext cx="2942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Workload Identity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24730" y="2423160"/>
            <a:ext cx="29422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Federated Entra identity for the pods — no secrets, least-privilege access to Azure APIs.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88757" y="1645920"/>
            <a:ext cx="345429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88757" y="1645920"/>
            <a:ext cx="3454298" cy="91440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21" name="Text 19"/>
          <p:cNvSpPr/>
          <p:nvPr/>
        </p:nvSpPr>
        <p:spPr>
          <a:xfrm>
            <a:off x="8444789" y="1901952"/>
            <a:ext cx="2942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Managed store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444789" y="2423160"/>
            <a:ext cx="29422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Swap SQLite/PVC for Azure SQL, Cosmos DB, or Log Analytics for durability and query.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345429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840480"/>
            <a:ext cx="3454298" cy="91440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4096512"/>
            <a:ext cx="2942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System node pool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04672" y="4617720"/>
            <a:ext cx="29422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the operator on a dedicated system pool so it is never evicted by the drain it triggered.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68698" y="3840480"/>
            <a:ext cx="345429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68698" y="3840480"/>
            <a:ext cx="3454298" cy="91440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29" name="Text 27"/>
          <p:cNvSpPr/>
          <p:nvPr/>
        </p:nvSpPr>
        <p:spPr>
          <a:xfrm>
            <a:off x="4624730" y="4096512"/>
            <a:ext cx="2942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 ITSM actions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624730" y="4617720"/>
            <a:ext cx="29422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Wire the Logic App to your ServiceNow instance and Google Chat space.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88757" y="3840480"/>
            <a:ext cx="345429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88757" y="3840480"/>
            <a:ext cx="3454298" cy="91440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33" name="Text 31"/>
          <p:cNvSpPr/>
          <p:nvPr/>
        </p:nvSpPr>
        <p:spPr>
          <a:xfrm>
            <a:off x="8444789" y="4096512"/>
            <a:ext cx="2942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Compare to built-ins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444789" y="4617720"/>
            <a:ext cx="294223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 against Node Problem Detector and node auto-repair; this fills the proactive, pre-impact gap.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0078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ASK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Proposed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368735" y="420624"/>
            <a:ext cx="117958" cy="117958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5" name="Shape 3"/>
          <p:cNvSpPr/>
          <p:nvPr/>
        </p:nvSpPr>
        <p:spPr>
          <a:xfrm>
            <a:off x="11525098" y="420624"/>
            <a:ext cx="117958" cy="117958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6" name="Shape 4"/>
          <p:cNvSpPr/>
          <p:nvPr/>
        </p:nvSpPr>
        <p:spPr>
          <a:xfrm>
            <a:off x="11368735" y="576986"/>
            <a:ext cx="117958" cy="11795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7" name="Shape 5"/>
          <p:cNvSpPr/>
          <p:nvPr/>
        </p:nvSpPr>
        <p:spPr>
          <a:xfrm>
            <a:off x="11525098" y="576986"/>
            <a:ext cx="117958" cy="117958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D2D0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 ·  Azure Kubernetes Service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071055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AKS Maintenance Handling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11094415" cy="786384"/>
          </a:xfrm>
          <a:prstGeom prst="rect">
            <a:avLst/>
          </a:prstGeom>
          <a:solidFill>
            <a:srgbClr val="F3F2F1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1792224"/>
            <a:ext cx="493776" cy="493776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7922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173736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Share the reference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40680" y="1737360"/>
            <a:ext cx="5973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hand over the demo, runbook and this architecture as a starting point — you are not building from zero.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542032"/>
            <a:ext cx="11094415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2688336"/>
            <a:ext cx="493776" cy="493776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688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263347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Point at a non-prod subscription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40680" y="2633472"/>
            <a:ext cx="5973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read-only/observe mode against a dev cluster and validate signals on your real node pools.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438144"/>
            <a:ext cx="11094415" cy="786384"/>
          </a:xfrm>
          <a:prstGeom prst="rect">
            <a:avLst/>
          </a:prstGeom>
          <a:solidFill>
            <a:srgbClr val="F3F2F1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584448"/>
            <a:ext cx="493776" cy="493776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5844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508760" y="352958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Enable act mode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40680" y="3529584"/>
            <a:ext cx="5973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the controller from observe to act on your validated node pools, at your chosen lead time.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334256"/>
            <a:ext cx="11094415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480560"/>
            <a:ext cx="493776" cy="493776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480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08760" y="442569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Integrate your ITSM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40680" y="4425696"/>
            <a:ext cx="5973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Wire the Logic App to ServiceNow / Google Chat for real incident and channel notifications.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230368"/>
            <a:ext cx="11094415" cy="786384"/>
          </a:xfrm>
          <a:prstGeom prst="rect">
            <a:avLst/>
          </a:prstGeom>
          <a:solidFill>
            <a:srgbClr val="F3F2F1"/>
          </a:solidFill>
          <a:ln w="12700">
            <a:solidFill>
              <a:srgbClr val="D2D0C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" y="5376672"/>
            <a:ext cx="493776" cy="493776"/>
          </a:xfrm>
          <a:prstGeom prst="ellipse">
            <a:avLst/>
          </a:prstGeom>
          <a:solidFill>
            <a:srgbClr val="0078D4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3766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508760" y="532180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F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Investigate residual pod networking in parallel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440680" y="5321808"/>
            <a:ext cx="5973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an SME to root-cause the post-redeploy network issue — the deeper original concern.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157277" cy="157277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4" name="Shape 2"/>
          <p:cNvSpPr/>
          <p:nvPr/>
        </p:nvSpPr>
        <p:spPr>
          <a:xfrm>
            <a:off x="757123" y="566928"/>
            <a:ext cx="157277" cy="157277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775411"/>
            <a:ext cx="157277" cy="157277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6" name="Shape 4"/>
          <p:cNvSpPr/>
          <p:nvPr/>
        </p:nvSpPr>
        <p:spPr>
          <a:xfrm>
            <a:off x="757123" y="775411"/>
            <a:ext cx="157277" cy="157277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51206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D6E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Let’s protect your AKS workloads before maintenance — not after.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54864" cy="73152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48463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Brandon Babcock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EC1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AKS Subject-Matter Expert  ·  Microsoft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85455" y="4937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A4E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0454335" y="640080"/>
            <a:ext cx="384048" cy="384048"/>
          </a:xfrm>
          <a:prstGeom prst="rect">
            <a:avLst/>
          </a:prstGeom>
          <a:solidFill>
            <a:srgbClr val="F25022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84687" y="640080"/>
            <a:ext cx="384048" cy="384048"/>
          </a:xfrm>
          <a:prstGeom prst="rect">
            <a:avLst/>
          </a:prstGeom>
          <a:solidFill>
            <a:srgbClr val="7FBA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54335" y="1170432"/>
            <a:ext cx="384048" cy="384048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84687" y="1170432"/>
            <a:ext cx="384048" cy="384048"/>
          </a:xfrm>
          <a:prstGeom prst="rect">
            <a:avLst/>
          </a:prstGeom>
          <a:solidFill>
            <a:srgbClr val="FFB9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Proactive AKS Maintenance Handling</dc:title>
  <dc:subject>PptxGenJS Presentation</dc:subject>
  <dc:creator>Brandon Babcock</dc:creator>
  <cp:lastModifiedBy>Brandon Babcock</cp:lastModifiedBy>
  <cp:revision>1</cp:revision>
  <dcterms:created xsi:type="dcterms:W3CDTF">2026-08-05T15:12:51Z</dcterms:created>
  <dcterms:modified xsi:type="dcterms:W3CDTF">2026-08-05T15:12:51Z</dcterms:modified>
</cp:coreProperties>
</file>